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3" r:id="rId6"/>
    <p:sldId id="262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setyo saputro" initials="ps" lastIdx="1" clrIdx="0">
    <p:extLst>
      <p:ext uri="{19B8F6BF-5375-455C-9EA6-DF929625EA0E}">
        <p15:presenceInfo xmlns:p15="http://schemas.microsoft.com/office/powerpoint/2012/main" userId="d71302bd3b68c7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54" y="53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31T15:42:17.623" idx="1">
    <p:pos x="2212" y="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BA20-CE7D-9A18-01E2-73C96BA03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F5A69-C5D2-3AEB-C845-01AB5A395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130B4-8ACA-9377-346E-5046F4CC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A0A92-F54B-3F6E-A08C-0C812CAD9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E49E2-8B8B-96A0-D5F3-DF13BF5A4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76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D0A52-16B4-C288-236E-49552E98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EB05F-5BBA-D097-5215-0082CE213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7FEFE-F9CF-C66B-72F5-075CC1A6C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DD0E-4FD2-A1B1-90B7-A837BC4F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8A7A4-5101-D413-F5B4-7A3D261F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0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0018-EBC9-5000-AF5C-A8A12511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7D11F-7510-0658-96F7-1D4315E05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95C35-9AA6-27F0-6398-FC222B9A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41504-4CB2-A047-8CC0-6CE10BC3A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40839-E0C9-3823-AB57-31515F1D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DD2AF-B381-E7E8-EFFC-F388841FC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218FE-049A-2C00-A681-BD80A598D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C6693-F3F2-15B8-D49E-445EF790C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D2B9C-DF3C-95D4-229A-683D8336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60902-5217-A99B-919C-1C79A64B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0CD49-95D2-347E-1AA6-26439EA9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0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F9CB3-5B6B-C43F-C31B-7EF67D010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C3DB8-BC03-1F4D-9824-90092029E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BA6DE-7331-65F1-D9A9-1551EAB68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C047F4-4305-FC59-76A3-AF62A5173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0A9395-9BC1-86C0-4EEB-467848884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34570-DCB9-8440-A0A7-D59CE57E8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F2C05-3C04-6E2C-A060-96C51FEAA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39BC8E-7EAA-47F4-F609-4E58AA76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188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1085-0F77-02A0-B253-EBB8950B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E43B7-5E16-A38F-AB99-06C629ED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B1260-7ADF-48D1-FE60-DBACC551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E0279-FD70-8D62-9940-EA2F7F19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91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B874B-2555-17DF-C965-95FB71B7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D1BEF-5C88-CFE4-06B3-47E5D35FB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7A7BB-E4F1-E0D2-8204-6007BF0C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1C1D5-9786-9790-0C2E-EF120B2C4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92BC0-3FA6-E9C1-E810-B1C481917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9C0E0-A67C-9780-BA8D-B7CA486B8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8704A-34A0-B0E5-4063-81F552D02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8D24A-5F09-0AD9-0C6E-7858D3BF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E7A3D-CE1A-DF71-9FA8-288B6647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31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E1F9-D0F2-DC39-FCE8-89726A3A4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082770-13FE-B307-DFD5-62F731A21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57D27-754D-B61C-1A24-9DB66AE2C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CF110-EBCC-7948-46EF-9F16A0945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1EC8B-B511-9CD2-7F2B-5F2A419F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977B4-6277-4432-CCDC-BAFAEB0E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5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FC671-6728-780B-0646-988BD0BA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26E60-6093-F714-437D-DF9F9627A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47E21-482B-2FCF-4D05-F9DEB55A0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BCF49-3245-EAC1-769E-9218865B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E424F-FACC-56FF-8414-AFDEF6E3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9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7C389-BE55-982C-311B-2583E617D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30A8F-67A7-30F9-97E1-0D9981D2C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3EFDF-22A7-6935-F671-782FBD77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6769-CB53-A63D-9216-E2C9AA3A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973D5-A79C-1EE5-3A69-A481DF40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4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4FE5C6-5814-4D6B-2A78-52461EA9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4A24C-0572-BCF7-0CA6-E150012F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1650C-8603-0E56-06D5-B9EF896E9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58E91-7515-4318-BC71-CDC5E040885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076A6-84D3-8C9C-7854-54E3EF76B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E72AD-D725-E736-7193-25036BC5F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3BD50-7683-45B4-A503-136FEA7A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hyperlink" Target="https://www.linkedin.com/in/prasetyo-saputro-749446384/" TargetMode="Externa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hyperlink" Target="mailto:prasetyosaputro327@gmail.com" TargetMode="Externa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Bookman Old Style" panose="02050604050505020204" pitchFamily="18" charset="0"/>
              </a:rPr>
              <a:t>Exploratory Data Analyst (EDA) + Linear Regression</a:t>
            </a:r>
            <a:br>
              <a:rPr lang="en-US" sz="2800" dirty="0">
                <a:latin typeface="Bookman Old Style" panose="02050604050505020204" pitchFamily="18" charset="0"/>
              </a:rPr>
            </a:br>
            <a:r>
              <a:rPr lang="en-US" sz="2800" dirty="0">
                <a:latin typeface="Bookman Old Style" panose="02050604050505020204" pitchFamily="18" charset="0"/>
              </a:rPr>
              <a:t>Faktor </a:t>
            </a:r>
            <a:r>
              <a:rPr lang="en-US" sz="2800" dirty="0" err="1">
                <a:latin typeface="Bookman Old Style" panose="02050604050505020204" pitchFamily="18" charset="0"/>
              </a:rPr>
              <a:t>resiko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800" dirty="0" err="1">
                <a:latin typeface="Bookman Old Style" panose="02050604050505020204" pitchFamily="18" charset="0"/>
              </a:rPr>
              <a:t>kesehatan</a:t>
            </a: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9EC059-D411-68AA-0134-B901EA95AE56}"/>
              </a:ext>
            </a:extLst>
          </p:cNvPr>
          <p:cNvSpPr txBox="1">
            <a:spLocks/>
          </p:cNvSpPr>
          <p:nvPr/>
        </p:nvSpPr>
        <p:spPr>
          <a:xfrm>
            <a:off x="5289754" y="4221020"/>
            <a:ext cx="6253317" cy="837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latin typeface="Bookman Old Style" panose="02050604050505020204" pitchFamily="18" charset="0"/>
              </a:rPr>
              <a:t>Prasetyo Saputro</a:t>
            </a:r>
            <a:br>
              <a:rPr lang="en-US" sz="1600" dirty="0">
                <a:latin typeface="Bookman Old Style" panose="02050604050505020204" pitchFamily="18" charset="0"/>
              </a:rPr>
            </a:br>
            <a:r>
              <a:rPr lang="en-US" sz="1600" dirty="0">
                <a:latin typeface="Bookman Old Style" panose="02050604050505020204" pitchFamily="18" charset="0"/>
              </a:rPr>
              <a:t>Data Analyst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86FB04-3024-9B76-1F93-F609C68DCD36}"/>
              </a:ext>
            </a:extLst>
          </p:cNvPr>
          <p:cNvSpPr txBox="1">
            <a:spLocks/>
          </p:cNvSpPr>
          <p:nvPr/>
        </p:nvSpPr>
        <p:spPr>
          <a:xfrm>
            <a:off x="5286999" y="5232674"/>
            <a:ext cx="6253317" cy="837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latin typeface="Bookman Old Style" panose="02050604050505020204" pitchFamily="18" charset="0"/>
              </a:rPr>
              <a:t>Tools :  Python, </a:t>
            </a:r>
            <a:r>
              <a:rPr lang="en-US" sz="1600" dirty="0" err="1">
                <a:latin typeface="Bookman Old Style" panose="02050604050505020204" pitchFamily="18" charset="0"/>
              </a:rPr>
              <a:t>Jupyter</a:t>
            </a:r>
            <a:r>
              <a:rPr lang="en-US" sz="1600" dirty="0">
                <a:latin typeface="Bookman Old Style" panose="02050604050505020204" pitchFamily="18" charset="0"/>
              </a:rPr>
              <a:t> Notebook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44ACD26-8CFB-C59C-BD02-E5A7CBF71347}"/>
              </a:ext>
            </a:extLst>
          </p:cNvPr>
          <p:cNvCxnSpPr>
            <a:cxnSpLocks/>
          </p:cNvCxnSpPr>
          <p:nvPr/>
        </p:nvCxnSpPr>
        <p:spPr>
          <a:xfrm>
            <a:off x="5286999" y="4400526"/>
            <a:ext cx="63800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8CAD9F0-A05F-D9A3-1CDB-64F084224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956119" cy="689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9A121-7865-0C23-5B05-673EAED5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332" y="893699"/>
            <a:ext cx="10058400" cy="115644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Bookman Old Style" panose="02050604050505020204" pitchFamily="18" charset="0"/>
              </a:rPr>
              <a:t>PENDAHULUAN</a:t>
            </a:r>
            <a:br>
              <a:rPr lang="en-US" dirty="0">
                <a:latin typeface="Bookman Old Style" panose="02050604050505020204" pitchFamily="18" charset="0"/>
              </a:rPr>
            </a:br>
            <a:br>
              <a:rPr lang="en-US" dirty="0">
                <a:latin typeface="Bookman Old Style" panose="02050604050505020204" pitchFamily="18" charset="0"/>
              </a:rPr>
            </a:b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97D71-006F-50D0-508A-87C7B6D62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Bookman Old Style" panose="02050604050505020204" pitchFamily="18" charset="0"/>
              </a:rPr>
              <a:t>Proyek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ini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bertujuan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untuk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melakukan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analisis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terhadap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faktor-faktor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risiko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kesehatan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berdasarkan</a:t>
            </a:r>
            <a:r>
              <a:rPr lang="en-US" sz="2000" dirty="0">
                <a:latin typeface="Bookman Old Style" panose="02050604050505020204" pitchFamily="18" charset="0"/>
              </a:rPr>
              <a:t> data yang </a:t>
            </a:r>
            <a:r>
              <a:rPr lang="en-US" sz="2000" dirty="0" err="1">
                <a:latin typeface="Bookman Old Style" panose="02050604050505020204" pitchFamily="18" charset="0"/>
              </a:rPr>
              <a:t>diperoleh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dari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b="1" dirty="0">
                <a:latin typeface="Bookman Old Style" panose="02050604050505020204" pitchFamily="18" charset="0"/>
              </a:rPr>
              <a:t>Kaggle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dengan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judul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i="1" dirty="0">
                <a:latin typeface="Bookman Old Style" panose="02050604050505020204" pitchFamily="18" charset="0"/>
              </a:rPr>
              <a:t>“Faktor </a:t>
            </a:r>
            <a:r>
              <a:rPr lang="en-US" sz="2000" i="1" dirty="0" err="1">
                <a:latin typeface="Bookman Old Style" panose="02050604050505020204" pitchFamily="18" charset="0"/>
              </a:rPr>
              <a:t>Risiko</a:t>
            </a:r>
            <a:r>
              <a:rPr lang="en-US" sz="2000" i="1" dirty="0">
                <a:latin typeface="Bookman Old Style" panose="02050604050505020204" pitchFamily="18" charset="0"/>
              </a:rPr>
              <a:t> Kesehatan”</a:t>
            </a:r>
            <a:r>
              <a:rPr lang="en-US" sz="2000" dirty="0">
                <a:latin typeface="Bookman Old Style" panose="02050604050505020204" pitchFamily="18" charset="0"/>
              </a:rPr>
              <a:t>. </a:t>
            </a:r>
            <a:r>
              <a:rPr lang="en-US" sz="2000" dirty="0" err="1">
                <a:latin typeface="Bookman Old Style" panose="02050604050505020204" pitchFamily="18" charset="0"/>
              </a:rPr>
              <a:t>Melalui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analisis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ini</a:t>
            </a:r>
            <a:r>
              <a:rPr lang="en-US" sz="2000" dirty="0">
                <a:latin typeface="Bookman Old Style" panose="02050604050505020204" pitchFamily="18" charset="0"/>
              </a:rPr>
              <a:t>, </a:t>
            </a:r>
            <a:r>
              <a:rPr lang="en-US" sz="2000" dirty="0" err="1">
                <a:latin typeface="Bookman Old Style" panose="02050604050505020204" pitchFamily="18" charset="0"/>
              </a:rPr>
              <a:t>diharapkan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dapat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diketahui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hubungan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antara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kondisi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kesehatan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individu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dengan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indikator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fisik</a:t>
            </a:r>
            <a:r>
              <a:rPr lang="en-US" sz="2000" dirty="0">
                <a:latin typeface="Bookman Old Style" panose="02050604050505020204" pitchFamily="18" charset="0"/>
              </a:rPr>
              <a:t> dan </a:t>
            </a:r>
            <a:r>
              <a:rPr lang="en-US" sz="2000" dirty="0" err="1">
                <a:latin typeface="Bookman Old Style" panose="02050604050505020204" pitchFamily="18" charset="0"/>
              </a:rPr>
              <a:t>indikator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aktivitas</a:t>
            </a:r>
            <a:r>
              <a:rPr lang="en-US" sz="2000" dirty="0">
                <a:latin typeface="Bookman Old Style" panose="02050604050505020204" pitchFamily="18" charset="0"/>
              </a:rPr>
              <a:t> yang </a:t>
            </a:r>
            <a:r>
              <a:rPr lang="en-US" sz="2000" dirty="0" err="1">
                <a:latin typeface="Bookman Old Style" panose="02050604050505020204" pitchFamily="18" charset="0"/>
              </a:rPr>
              <a:t>memengaruhinya</a:t>
            </a:r>
            <a:r>
              <a:rPr lang="en-US" sz="2000" dirty="0">
                <a:latin typeface="Bookman Old Style" panose="02050604050505020204" pitchFamily="18" charset="0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Bookman Old Style" panose="02050604050505020204" pitchFamily="18" charset="0"/>
              </a:rPr>
              <a:t>Menganalisis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distribusi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umur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menggunakan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b="1" dirty="0">
                <a:latin typeface="Bookman Old Style" panose="02050604050505020204" pitchFamily="18" charset="0"/>
              </a:rPr>
              <a:t>boxplot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untuk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melihat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sebaran</a:t>
            </a:r>
            <a:r>
              <a:rPr lang="en-US" sz="2000" dirty="0">
                <a:latin typeface="Bookman Old Style" panose="02050604050505020204" pitchFamily="18" charset="0"/>
              </a:rPr>
              <a:t>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Bookman Old Style" panose="02050604050505020204" pitchFamily="18" charset="0"/>
              </a:rPr>
              <a:t>Mengamati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hubungan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antara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b="1" dirty="0" err="1">
                <a:latin typeface="Bookman Old Style" panose="02050604050505020204" pitchFamily="18" charset="0"/>
              </a:rPr>
              <a:t>indikator</a:t>
            </a:r>
            <a:r>
              <a:rPr lang="en-US" sz="2000" b="1" dirty="0">
                <a:latin typeface="Bookman Old Style" panose="02050604050505020204" pitchFamily="18" charset="0"/>
              </a:rPr>
              <a:t> </a:t>
            </a:r>
            <a:r>
              <a:rPr lang="en-US" sz="2000" b="1" dirty="0" err="1">
                <a:latin typeface="Bookman Old Style" panose="02050604050505020204" pitchFamily="18" charset="0"/>
              </a:rPr>
              <a:t>kesehatan</a:t>
            </a:r>
            <a:r>
              <a:rPr lang="en-US" sz="2000" dirty="0">
                <a:latin typeface="Bookman Old Style" panose="02050604050505020204" pitchFamily="18" charset="0"/>
              </a:rPr>
              <a:t> (</a:t>
            </a:r>
            <a:r>
              <a:rPr lang="en-US" sz="2000" dirty="0" err="1">
                <a:latin typeface="Bookman Old Style" panose="02050604050505020204" pitchFamily="18" charset="0"/>
              </a:rPr>
              <a:t>seperti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tekanan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darah</a:t>
            </a:r>
            <a:r>
              <a:rPr lang="en-US" sz="2000" dirty="0">
                <a:latin typeface="Bookman Old Style" panose="02050604050505020204" pitchFamily="18" charset="0"/>
              </a:rPr>
              <a:t>, BMI, </a:t>
            </a:r>
            <a:r>
              <a:rPr lang="en-US" sz="2000" dirty="0" err="1">
                <a:latin typeface="Bookman Old Style" panose="02050604050505020204" pitchFamily="18" charset="0"/>
              </a:rPr>
              <a:t>atau</a:t>
            </a:r>
            <a:r>
              <a:rPr lang="en-US" sz="2000" dirty="0">
                <a:latin typeface="Bookman Old Style" panose="02050604050505020204" pitchFamily="18" charset="0"/>
              </a:rPr>
              <a:t> status </a:t>
            </a:r>
            <a:r>
              <a:rPr lang="en-US" sz="2000" dirty="0" err="1">
                <a:latin typeface="Bookman Old Style" panose="02050604050505020204" pitchFamily="18" charset="0"/>
              </a:rPr>
              <a:t>penyakit</a:t>
            </a:r>
            <a:r>
              <a:rPr lang="en-US" sz="2000" dirty="0">
                <a:latin typeface="Bookman Old Style" panose="02050604050505020204" pitchFamily="18" charset="0"/>
              </a:rPr>
              <a:t>) </a:t>
            </a:r>
            <a:r>
              <a:rPr lang="en-US" sz="2000" dirty="0" err="1">
                <a:latin typeface="Bookman Old Style" panose="02050604050505020204" pitchFamily="18" charset="0"/>
              </a:rPr>
              <a:t>dengan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b="1" dirty="0" err="1">
                <a:latin typeface="Bookman Old Style" panose="02050604050505020204" pitchFamily="18" charset="0"/>
              </a:rPr>
              <a:t>indikator</a:t>
            </a:r>
            <a:r>
              <a:rPr lang="en-US" sz="2000" b="1" dirty="0">
                <a:latin typeface="Bookman Old Style" panose="02050604050505020204" pitchFamily="18" charset="0"/>
              </a:rPr>
              <a:t> </a:t>
            </a:r>
            <a:r>
              <a:rPr lang="en-US" sz="2000" b="1" dirty="0" err="1">
                <a:latin typeface="Bookman Old Style" panose="02050604050505020204" pitchFamily="18" charset="0"/>
              </a:rPr>
              <a:t>aktivitas</a:t>
            </a:r>
            <a:r>
              <a:rPr lang="en-US" sz="2000" dirty="0">
                <a:latin typeface="Bookman Old Style" panose="02050604050505020204" pitchFamily="18" charset="0"/>
              </a:rPr>
              <a:t> (</a:t>
            </a:r>
            <a:r>
              <a:rPr lang="en-US" sz="2000" dirty="0" err="1">
                <a:latin typeface="Bookman Old Style" panose="02050604050505020204" pitchFamily="18" charset="0"/>
              </a:rPr>
              <a:t>seperti</a:t>
            </a:r>
            <a:r>
              <a:rPr lang="en-US" sz="2000" dirty="0">
                <a:latin typeface="Bookman Old Style" panose="02050604050505020204" pitchFamily="18" charset="0"/>
              </a:rPr>
              <a:t> Diet Score, Jam </a:t>
            </a:r>
            <a:r>
              <a:rPr lang="en-US" sz="2000" dirty="0" err="1">
                <a:latin typeface="Bookman Old Style" panose="02050604050505020204" pitchFamily="18" charset="0"/>
              </a:rPr>
              <a:t>Tidur</a:t>
            </a:r>
            <a:r>
              <a:rPr lang="en-US" sz="2000" dirty="0">
                <a:latin typeface="Bookman Old Style" panose="02050604050505020204" pitchFamily="18" charset="0"/>
              </a:rPr>
              <a:t>, </a:t>
            </a:r>
            <a:r>
              <a:rPr lang="en-US" sz="2000" dirty="0" err="1">
                <a:latin typeface="Bookman Old Style" panose="02050604050505020204" pitchFamily="18" charset="0"/>
              </a:rPr>
              <a:t>Aktifitas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fisik</a:t>
            </a:r>
            <a:r>
              <a:rPr lang="en-US" sz="2000" dirty="0">
                <a:latin typeface="Bookman Old Style" panose="02050604050505020204" pitchFamily="18" charset="0"/>
              </a:rPr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Bookman Old Style" panose="02050604050505020204" pitchFamily="18" charset="0"/>
              </a:rPr>
              <a:t>Mengukur</a:t>
            </a:r>
            <a:r>
              <a:rPr lang="en-US" sz="2000" dirty="0">
                <a:latin typeface="Bookman Old Style" panose="02050604050505020204" pitchFamily="18" charset="0"/>
              </a:rPr>
              <a:t> dan </a:t>
            </a:r>
            <a:r>
              <a:rPr lang="en-US" sz="2000" dirty="0" err="1">
                <a:latin typeface="Bookman Old Style" panose="02050604050505020204" pitchFamily="18" charset="0"/>
              </a:rPr>
              <a:t>menginterpretasikan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b="1" dirty="0" err="1">
                <a:latin typeface="Bookman Old Style" panose="02050604050505020204" pitchFamily="18" charset="0"/>
              </a:rPr>
              <a:t>korelasi</a:t>
            </a:r>
            <a:r>
              <a:rPr lang="en-US" sz="2000" b="1" dirty="0">
                <a:latin typeface="Bookman Old Style" panose="02050604050505020204" pitchFamily="18" charset="0"/>
              </a:rPr>
              <a:t> </a:t>
            </a:r>
            <a:r>
              <a:rPr lang="en-US" sz="2000" b="1" dirty="0" err="1">
                <a:latin typeface="Bookman Old Style" panose="02050604050505020204" pitchFamily="18" charset="0"/>
              </a:rPr>
              <a:t>antarvariabel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untuk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mengetahui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variabel</a:t>
            </a:r>
            <a:r>
              <a:rPr lang="en-US" sz="2000" dirty="0">
                <a:latin typeface="Bookman Old Style" panose="02050604050505020204" pitchFamily="18" charset="0"/>
              </a:rPr>
              <a:t> mana yang </a:t>
            </a:r>
            <a:r>
              <a:rPr lang="en-US" sz="2000" dirty="0" err="1">
                <a:latin typeface="Bookman Old Style" panose="02050604050505020204" pitchFamily="18" charset="0"/>
              </a:rPr>
              <a:t>memiliki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hubungan</a:t>
            </a:r>
            <a:r>
              <a:rPr lang="en-US" sz="2000" dirty="0">
                <a:latin typeface="Bookman Old Style" panose="02050604050505020204" pitchFamily="18" charset="0"/>
              </a:rPr>
              <a:t> paling </a:t>
            </a:r>
            <a:r>
              <a:rPr lang="en-US" sz="2000" dirty="0" err="1">
                <a:latin typeface="Bookman Old Style" panose="02050604050505020204" pitchFamily="18" charset="0"/>
              </a:rPr>
              <a:t>kuat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terhadap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faktor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risiko</a:t>
            </a: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latin typeface="Bookman Old Style" panose="02050604050505020204" pitchFamily="18" charset="0"/>
              </a:rPr>
              <a:t>kesehatan</a:t>
            </a:r>
            <a:r>
              <a:rPr lang="en-US" sz="2000" dirty="0">
                <a:latin typeface="Bookman Old Style" panose="02050604050505020204" pitchFamily="18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>
              <a:latin typeface="Bookman Old Style" panose="0205060405050502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64613A-DE6C-6381-6A33-6846F561036F}"/>
              </a:ext>
            </a:extLst>
          </p:cNvPr>
          <p:cNvCxnSpPr/>
          <p:nvPr/>
        </p:nvCxnSpPr>
        <p:spPr>
          <a:xfrm>
            <a:off x="961534" y="1253765"/>
            <a:ext cx="102375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21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B572-8040-C7CE-FA34-40DF2D589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Dataset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4CFEE9-3033-C3F2-F3D6-A3BDC64BC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6942" y="2100784"/>
            <a:ext cx="8455927" cy="405308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18D414-F73B-D4CE-DF2E-1FF9B80E9D99}"/>
              </a:ext>
            </a:extLst>
          </p:cNvPr>
          <p:cNvCxnSpPr/>
          <p:nvPr/>
        </p:nvCxnSpPr>
        <p:spPr>
          <a:xfrm>
            <a:off x="1310325" y="1395167"/>
            <a:ext cx="102375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270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1656-2322-48E1-7D7A-8CA8A0A29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622" y="443918"/>
            <a:ext cx="10351417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 err="1">
                <a:latin typeface="Bookman Old Style" panose="02050604050505020204" pitchFamily="18" charset="0"/>
              </a:rPr>
              <a:t>Distribusi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800" dirty="0" err="1">
                <a:latin typeface="Bookman Old Style" panose="02050604050505020204" pitchFamily="18" charset="0"/>
              </a:rPr>
              <a:t>Umur</a:t>
            </a:r>
            <a:r>
              <a:rPr lang="en-US" sz="2800" dirty="0">
                <a:latin typeface="Bookman Old Style" panose="02050604050505020204" pitchFamily="18" charset="0"/>
              </a:rPr>
              <a:t>(Univariate Analyst)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68D7A-2AD6-0CD0-133E-532BCCC5A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138" y="4154409"/>
            <a:ext cx="4281862" cy="21485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D7F19A-1065-16F2-7F55-743D0A373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875" y="4154409"/>
            <a:ext cx="4215336" cy="2025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F55ADE-C438-FDDA-72CC-83479D929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065" y="1848274"/>
            <a:ext cx="5076146" cy="21485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6A7A965-548B-E5BE-E7E3-71B40BE8C38C}"/>
              </a:ext>
            </a:extLst>
          </p:cNvPr>
          <p:cNvSpPr/>
          <p:nvPr/>
        </p:nvSpPr>
        <p:spPr>
          <a:xfrm>
            <a:off x="4936" y="0"/>
            <a:ext cx="347770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6F7CFA2-00BE-A8C3-321F-3A9592285FF9}"/>
              </a:ext>
            </a:extLst>
          </p:cNvPr>
          <p:cNvSpPr txBox="1">
            <a:spLocks/>
          </p:cNvSpPr>
          <p:nvPr/>
        </p:nvSpPr>
        <p:spPr>
          <a:xfrm>
            <a:off x="55775" y="1316393"/>
            <a:ext cx="3238670" cy="53608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Bookman Old Style" panose="02050604050505020204" pitchFamily="18" charset="0"/>
              </a:rPr>
              <a:t>berdasarkan</a:t>
            </a:r>
            <a:r>
              <a:rPr lang="en-US" sz="1400" dirty="0">
                <a:latin typeface="Bookman Old Style" panose="02050604050505020204" pitchFamily="18" charset="0"/>
              </a:rPr>
              <a:t> data </a:t>
            </a:r>
            <a:r>
              <a:rPr lang="en-US" sz="1400" dirty="0" err="1">
                <a:latin typeface="Bookman Old Style" panose="02050604050505020204" pitchFamily="18" charset="0"/>
              </a:rPr>
              <a:t>umur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bahwa</a:t>
            </a:r>
            <a:r>
              <a:rPr lang="en-US" sz="1400" dirty="0">
                <a:latin typeface="Bookman Old Style" panose="02050604050505020204" pitchFamily="18" charset="0"/>
              </a:rPr>
              <a:t> rata-rata </a:t>
            </a:r>
            <a:r>
              <a:rPr lang="en-US" sz="1400" dirty="0" err="1">
                <a:latin typeface="Bookman Old Style" panose="02050604050505020204" pitchFamily="18" charset="0"/>
              </a:rPr>
              <a:t>usia</a:t>
            </a:r>
            <a:r>
              <a:rPr lang="en-US" sz="1400" dirty="0">
                <a:latin typeface="Bookman Old Style" panose="02050604050505020204" pitchFamily="18" charset="0"/>
              </a:rPr>
              <a:t> di </a:t>
            </a:r>
            <a:r>
              <a:rPr lang="en-US" sz="1400" dirty="0" err="1">
                <a:latin typeface="Bookman Old Style" panose="02050604050505020204" pitchFamily="18" charset="0"/>
              </a:rPr>
              <a:t>angka</a:t>
            </a:r>
            <a:r>
              <a:rPr lang="en-US" sz="1400" dirty="0">
                <a:latin typeface="Bookman Old Style" panose="02050604050505020204" pitchFamily="18" charset="0"/>
              </a:rPr>
              <a:t> 55 </a:t>
            </a:r>
            <a:r>
              <a:rPr lang="en-US" sz="1400" dirty="0" err="1">
                <a:latin typeface="Bookman Old Style" panose="02050604050505020204" pitchFamily="18" charset="0"/>
              </a:rPr>
              <a:t>tahun</a:t>
            </a:r>
            <a:r>
              <a:rPr lang="en-US" sz="1400" dirty="0">
                <a:latin typeface="Bookman Old Style" panose="02050604050505020204" pitchFamily="18" charset="0"/>
              </a:rPr>
              <a:t>, </a:t>
            </a:r>
            <a:r>
              <a:rPr lang="en-US" sz="1400" dirty="0" err="1">
                <a:latin typeface="Bookman Old Style" panose="02050604050505020204" pitchFamily="18" charset="0"/>
              </a:rPr>
              <a:t>berdasarkan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rentang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interkuartil</a:t>
            </a:r>
            <a:r>
              <a:rPr lang="en-US" sz="1400" dirty="0">
                <a:latin typeface="Bookman Old Style" panose="02050604050505020204" pitchFamily="18" charset="0"/>
              </a:rPr>
              <a:t>(IQR) </a:t>
            </a:r>
            <a:r>
              <a:rPr lang="en-US" sz="1400" dirty="0" err="1">
                <a:latin typeface="Bookman Old Style" panose="02050604050505020204" pitchFamily="18" charset="0"/>
              </a:rPr>
              <a:t>dari</a:t>
            </a:r>
            <a:r>
              <a:rPr lang="en-US" sz="1400" dirty="0">
                <a:latin typeface="Bookman Old Style" panose="02050604050505020204" pitchFamily="18" charset="0"/>
              </a:rPr>
              <a:t> data </a:t>
            </a:r>
            <a:r>
              <a:rPr lang="en-US" sz="1400" dirty="0" err="1">
                <a:latin typeface="Bookman Old Style" panose="02050604050505020204" pitchFamily="18" charset="0"/>
              </a:rPr>
              <a:t>tersebut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lebar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rentang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usia</a:t>
            </a:r>
            <a:r>
              <a:rPr lang="en-US" sz="1400" dirty="0">
                <a:latin typeface="Bookman Old Style" panose="02050604050505020204" pitchFamily="18" charset="0"/>
              </a:rPr>
              <a:t> (21 </a:t>
            </a:r>
            <a:r>
              <a:rPr lang="en-US" sz="1400" dirty="0" err="1">
                <a:latin typeface="Bookman Old Style" panose="02050604050505020204" pitchFamily="18" charset="0"/>
              </a:rPr>
              <a:t>tahun</a:t>
            </a:r>
            <a:r>
              <a:rPr lang="en-US" sz="1400" dirty="0">
                <a:latin typeface="Bookman Old Style" panose="02050604050505020204" pitchFamily="18" charset="0"/>
              </a:rPr>
              <a:t>) yang </a:t>
            </a:r>
            <a:r>
              <a:rPr lang="en-US" sz="1400" dirty="0" err="1">
                <a:latin typeface="Bookman Old Style" panose="02050604050505020204" pitchFamily="18" charset="0"/>
              </a:rPr>
              <a:t>menunjukkan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bahwa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variabilitas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usia</a:t>
            </a:r>
            <a:r>
              <a:rPr lang="en-US" sz="1400" dirty="0">
                <a:latin typeface="Bookman Old Style" panose="02050604050505020204" pitchFamily="18" charset="0"/>
              </a:rPr>
              <a:t> yang </a:t>
            </a:r>
            <a:r>
              <a:rPr lang="en-US" sz="1400" dirty="0" err="1">
                <a:latin typeface="Bookman Old Style" panose="02050604050505020204" pitchFamily="18" charset="0"/>
              </a:rPr>
              <a:t>cukup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signifikan</a:t>
            </a:r>
            <a:r>
              <a:rPr lang="en-US" sz="1400" dirty="0">
                <a:latin typeface="Bookman Old Style" panose="02050604050505020204" pitchFamily="18" charset="0"/>
              </a:rPr>
              <a:t>. </a:t>
            </a:r>
            <a:r>
              <a:rPr lang="en-US" sz="1400" dirty="0" err="1">
                <a:latin typeface="Bookman Old Style" panose="02050604050505020204" pitchFamily="18" charset="0"/>
              </a:rPr>
              <a:t>Begitu</a:t>
            </a:r>
            <a:r>
              <a:rPr lang="en-US" sz="1400" dirty="0">
                <a:latin typeface="Bookman Old Style" panose="02050604050505020204" pitchFamily="18" charset="0"/>
              </a:rPr>
              <a:t> juga </a:t>
            </a:r>
            <a:r>
              <a:rPr lang="en-US" sz="1400" dirty="0" err="1">
                <a:latin typeface="Bookman Old Style" panose="02050604050505020204" pitchFamily="18" charset="0"/>
              </a:rPr>
              <a:t>dengan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Bookman Old Style" panose="02050604050505020204" pitchFamily="18" charset="0"/>
              </a:rPr>
              <a:t>distribusi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umur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berdasarkan</a:t>
            </a:r>
            <a:r>
              <a:rPr lang="en-US" sz="1400" dirty="0">
                <a:latin typeface="Bookman Old Style" panose="02050604050505020204" pitchFamily="18" charset="0"/>
              </a:rPr>
              <a:t> gender juga </a:t>
            </a:r>
            <a:r>
              <a:rPr lang="en-US" sz="1400" dirty="0" err="1">
                <a:latin typeface="Bookman Old Style" panose="02050604050505020204" pitchFamily="18" charset="0"/>
              </a:rPr>
              <a:t>memiliki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nilai</a:t>
            </a:r>
            <a:r>
              <a:rPr lang="en-US" sz="1400" dirty="0">
                <a:latin typeface="Bookman Old Style" panose="02050604050505020204" pitchFamily="18" charset="0"/>
              </a:rPr>
              <a:t> yang </a:t>
            </a:r>
            <a:r>
              <a:rPr lang="en-US" sz="1400" dirty="0" err="1">
                <a:latin typeface="Bookman Old Style" panose="02050604050505020204" pitchFamily="18" charset="0"/>
              </a:rPr>
              <a:t>sama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dengan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distribuse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umur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secara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kesulurahan</a:t>
            </a:r>
            <a:r>
              <a:rPr lang="en-US" sz="1400" dirty="0">
                <a:latin typeface="Bookman Old Style" panose="0205060405050502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Bookman Old Style" panose="02050604050505020204" pitchFamily="18" charset="0"/>
              </a:rPr>
              <a:t>distribusi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umur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berdasarkan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kondisi</a:t>
            </a:r>
            <a:r>
              <a:rPr lang="en-US" sz="1400" dirty="0">
                <a:latin typeface="Bookman Old Style" panose="02050604050505020204" pitchFamily="18" charset="0"/>
              </a:rPr>
              <a:t> Kesehatan </a:t>
            </a:r>
            <a:r>
              <a:rPr lang="en-US" sz="1400" dirty="0" err="1">
                <a:latin typeface="Bookman Old Style" panose="02050604050505020204" pitchFamily="18" charset="0"/>
              </a:rPr>
              <a:t>bisa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kita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simpulkan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bahwa</a:t>
            </a:r>
            <a:r>
              <a:rPr lang="en-US" sz="1400" dirty="0">
                <a:latin typeface="Bookman Old Style" panose="02050604050505020204" pitchFamily="18" charset="0"/>
              </a:rPr>
              <a:t> Arthritis, </a:t>
            </a:r>
            <a:r>
              <a:rPr lang="en-US" sz="1400" dirty="0" err="1">
                <a:latin typeface="Bookman Old Style" panose="02050604050505020204" pitchFamily="18" charset="0"/>
              </a:rPr>
              <a:t>Hipertensi</a:t>
            </a:r>
            <a:r>
              <a:rPr lang="en-US" sz="1400" dirty="0">
                <a:latin typeface="Bookman Old Style" panose="02050604050505020204" pitchFamily="18" charset="0"/>
              </a:rPr>
              <a:t>, diabetes, dan </a:t>
            </a:r>
            <a:r>
              <a:rPr lang="en-US" sz="1400" dirty="0" err="1">
                <a:latin typeface="Bookman Old Style" panose="02050604050505020204" pitchFamily="18" charset="0"/>
              </a:rPr>
              <a:t>kanker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memiliki</a:t>
            </a:r>
            <a:r>
              <a:rPr lang="en-US" sz="1400" dirty="0">
                <a:latin typeface="Bookman Old Style" panose="02050604050505020204" pitchFamily="18" charset="0"/>
              </a:rPr>
              <a:t> median </a:t>
            </a:r>
            <a:r>
              <a:rPr lang="en-US" sz="1400" dirty="0" err="1">
                <a:latin typeface="Bookman Old Style" panose="02050604050505020204" pitchFamily="18" charset="0"/>
              </a:rPr>
              <a:t>usia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jauh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lebih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tinggi</a:t>
            </a:r>
            <a:r>
              <a:rPr lang="en-US" sz="1400" dirty="0">
                <a:latin typeface="Bookman Old Style" panose="02050604050505020204" pitchFamily="18" charset="0"/>
              </a:rPr>
              <a:t> dan </a:t>
            </a:r>
            <a:r>
              <a:rPr lang="en-US" sz="1400" dirty="0" err="1">
                <a:latin typeface="Bookman Old Style" panose="02050604050505020204" pitchFamily="18" charset="0"/>
              </a:rPr>
              <a:t>sebaliknya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asma</a:t>
            </a:r>
            <a:r>
              <a:rPr lang="en-US" sz="1400" dirty="0">
                <a:latin typeface="Bookman Old Style" panose="02050604050505020204" pitchFamily="18" charset="0"/>
              </a:rPr>
              <a:t>, </a:t>
            </a:r>
            <a:r>
              <a:rPr lang="en-US" sz="1400" dirty="0" err="1">
                <a:latin typeface="Bookman Old Style" panose="02050604050505020204" pitchFamily="18" charset="0"/>
              </a:rPr>
              <a:t>obsitas</a:t>
            </a:r>
            <a:r>
              <a:rPr lang="en-US" sz="1400" dirty="0">
                <a:latin typeface="Bookman Old Style" panose="02050604050505020204" pitchFamily="18" charset="0"/>
              </a:rPr>
              <a:t>, dan healthy </a:t>
            </a:r>
            <a:r>
              <a:rPr lang="en-US" sz="1400" dirty="0" err="1">
                <a:latin typeface="Bookman Old Style" panose="02050604050505020204" pitchFamily="18" charset="0"/>
              </a:rPr>
              <a:t>menunjukkan</a:t>
            </a:r>
            <a:r>
              <a:rPr lang="en-US" sz="1400" dirty="0">
                <a:latin typeface="Bookman Old Style" panose="02050604050505020204" pitchFamily="18" charset="0"/>
              </a:rPr>
              <a:t> median </a:t>
            </a:r>
            <a:r>
              <a:rPr lang="en-US" sz="1400" dirty="0" err="1">
                <a:latin typeface="Bookman Old Style" panose="02050604050505020204" pitchFamily="18" charset="0"/>
              </a:rPr>
              <a:t>usia</a:t>
            </a:r>
            <a:r>
              <a:rPr lang="en-US" sz="1400" dirty="0">
                <a:latin typeface="Bookman Old Style" panose="02050604050505020204" pitchFamily="18" charset="0"/>
              </a:rPr>
              <a:t> </a:t>
            </a:r>
            <a:r>
              <a:rPr lang="en-US" sz="1400" dirty="0" err="1">
                <a:latin typeface="Bookman Old Style" panose="02050604050505020204" pitchFamily="18" charset="0"/>
              </a:rPr>
              <a:t>rendah</a:t>
            </a:r>
            <a:endParaRPr lang="en-US" sz="14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Bookman Old Style" panose="02050604050505020204" pitchFamily="18" charset="0"/>
            </a:endParaRPr>
          </a:p>
          <a:p>
            <a:endParaRPr lang="en-US" sz="1400" dirty="0">
              <a:latin typeface="Bookman Old Style" panose="02050604050505020204" pitchFamily="18" charset="0"/>
            </a:endParaRPr>
          </a:p>
          <a:p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B1C3B04-6C48-659F-0458-52832594C37E}"/>
              </a:ext>
            </a:extLst>
          </p:cNvPr>
          <p:cNvSpPr txBox="1">
            <a:spLocks/>
          </p:cNvSpPr>
          <p:nvPr/>
        </p:nvSpPr>
        <p:spPr>
          <a:xfrm>
            <a:off x="-423421" y="180747"/>
            <a:ext cx="24313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 err="1">
                <a:latin typeface="Bookman Old Style" panose="02050604050505020204" pitchFamily="18" charset="0"/>
              </a:rPr>
              <a:t>Catatan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634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94C19-80DB-9473-281A-33AC4E93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E35FD-2396-10F6-9188-1D74F5D69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622" y="443918"/>
            <a:ext cx="10351417" cy="1325563"/>
          </a:xfrm>
        </p:spPr>
        <p:txBody>
          <a:bodyPr/>
          <a:lstStyle/>
          <a:p>
            <a:pPr algn="ctr"/>
            <a:r>
              <a:rPr lang="en-US" dirty="0" err="1">
                <a:latin typeface="Bookman Old Style" panose="02050604050505020204" pitchFamily="18" charset="0"/>
              </a:rPr>
              <a:t>Korelasi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FF32C2-72C2-1A59-5652-32388528753D}"/>
              </a:ext>
            </a:extLst>
          </p:cNvPr>
          <p:cNvSpPr/>
          <p:nvPr/>
        </p:nvSpPr>
        <p:spPr>
          <a:xfrm>
            <a:off x="4936" y="0"/>
            <a:ext cx="347770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Fokus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terhapap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korelasi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yang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cukup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signifikan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terdapat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hubungan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positif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yang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kkuat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antara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Glukosa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dan HbA1c(0.63) yang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secara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klinis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sangat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masuk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akal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karena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kedua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indicator Utama control gula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darah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. Selain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itu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, Diet Score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menunjukkan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korelasi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negatif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moderat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dengan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Glukosa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(-0.31), HbA1c (-0.35), dan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Trigliserida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(-0.26).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E9E5854-ED74-E355-82DA-4042DC661B4F}"/>
              </a:ext>
            </a:extLst>
          </p:cNvPr>
          <p:cNvSpPr txBox="1">
            <a:spLocks/>
          </p:cNvSpPr>
          <p:nvPr/>
        </p:nvSpPr>
        <p:spPr>
          <a:xfrm>
            <a:off x="55775" y="1316393"/>
            <a:ext cx="3238670" cy="53608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E13F59D-2FFB-851A-93E4-0D6B08C9692A}"/>
              </a:ext>
            </a:extLst>
          </p:cNvPr>
          <p:cNvSpPr txBox="1">
            <a:spLocks/>
          </p:cNvSpPr>
          <p:nvPr/>
        </p:nvSpPr>
        <p:spPr>
          <a:xfrm>
            <a:off x="-423421" y="180747"/>
            <a:ext cx="24313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 err="1">
                <a:latin typeface="Bookman Old Style" panose="02050604050505020204" pitchFamily="18" charset="0"/>
              </a:rPr>
              <a:t>Catatan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27F5E5-2E8C-B03F-1BE2-8249D1629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328" y="2100276"/>
            <a:ext cx="7557061" cy="420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DF1A5-9C35-B356-A90A-1C5FE263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F9E1-F66F-B7C6-272B-B0658D561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622" y="443918"/>
            <a:ext cx="10351417" cy="1325563"/>
          </a:xfrm>
        </p:spPr>
        <p:txBody>
          <a:bodyPr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Multivariate Analyst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22940F-2702-8171-4B5C-6CEA85F28E92}"/>
              </a:ext>
            </a:extLst>
          </p:cNvPr>
          <p:cNvSpPr/>
          <p:nvPr/>
        </p:nvSpPr>
        <p:spPr>
          <a:xfrm>
            <a:off x="4936" y="0"/>
            <a:ext cx="347770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kita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dapat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menyimpukan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bahwa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indikator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aktivitas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seperti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sleep hours dan diet score(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kontras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warna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)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mempengaruhi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indicator Kesehatan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tetapi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tidak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signifikan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FC28CB5-211C-1823-369F-071F6CB67EFE}"/>
              </a:ext>
            </a:extLst>
          </p:cNvPr>
          <p:cNvSpPr txBox="1">
            <a:spLocks/>
          </p:cNvSpPr>
          <p:nvPr/>
        </p:nvSpPr>
        <p:spPr>
          <a:xfrm>
            <a:off x="55775" y="1316393"/>
            <a:ext cx="3238670" cy="53608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FE785D4-1C8D-6CCD-CD96-3484794939A0}"/>
              </a:ext>
            </a:extLst>
          </p:cNvPr>
          <p:cNvSpPr txBox="1">
            <a:spLocks/>
          </p:cNvSpPr>
          <p:nvPr/>
        </p:nvSpPr>
        <p:spPr>
          <a:xfrm>
            <a:off x="-545969" y="1106699"/>
            <a:ext cx="24313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 err="1">
                <a:latin typeface="Bookman Old Style" panose="02050604050505020204" pitchFamily="18" charset="0"/>
              </a:rPr>
              <a:t>Catatan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93D68E-509D-88EE-8538-0C351F2DD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117" y="1627403"/>
            <a:ext cx="5410669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2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C722-B6DA-52FC-C827-5DF61885B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9F0D-75D7-B7B2-5434-06AC7D79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950" y="180747"/>
            <a:ext cx="1035141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latin typeface="Bookman Old Style" panose="02050604050505020204" pitchFamily="18" charset="0"/>
              </a:rPr>
              <a:t>Distribusi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Indikator</a:t>
            </a:r>
            <a:r>
              <a:rPr lang="en-US" sz="4000" dirty="0">
                <a:latin typeface="Bookman Old Style" panose="02050604050505020204" pitchFamily="18" charset="0"/>
              </a:rPr>
              <a:t> Kesehatan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F9C1A0-7BF6-962F-1CB6-5DC74DF3020F}"/>
              </a:ext>
            </a:extLst>
          </p:cNvPr>
          <p:cNvSpPr/>
          <p:nvPr/>
        </p:nvSpPr>
        <p:spPr>
          <a:xfrm>
            <a:off x="4936" y="0"/>
            <a:ext cx="347770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dari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hasil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distribusi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data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indikator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kesehatan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berdasarkan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kondisi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kesehatan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ini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kita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dapat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menyimpulkan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bahwa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beberapa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kondisi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kesehatan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memiliki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kecendereung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dengan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indikator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Kesehatan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seperti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diabetes (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menujukkan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kadar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glukosa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yang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tinggi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)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dibandingkan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yang lain,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hipertensi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menunjukkan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blood pressure yang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tinggi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)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dibandingkan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yang lain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E506E44-7F0D-BEE5-65D1-71D662008BD1}"/>
              </a:ext>
            </a:extLst>
          </p:cNvPr>
          <p:cNvSpPr txBox="1">
            <a:spLocks/>
          </p:cNvSpPr>
          <p:nvPr/>
        </p:nvSpPr>
        <p:spPr>
          <a:xfrm>
            <a:off x="55775" y="1316393"/>
            <a:ext cx="3238670" cy="53608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3B7DDD4-87AF-BDB1-0D52-623326CD5328}"/>
              </a:ext>
            </a:extLst>
          </p:cNvPr>
          <p:cNvSpPr txBox="1">
            <a:spLocks/>
          </p:cNvSpPr>
          <p:nvPr/>
        </p:nvSpPr>
        <p:spPr>
          <a:xfrm>
            <a:off x="-460513" y="180747"/>
            <a:ext cx="24313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 err="1">
                <a:latin typeface="Bookman Old Style" panose="02050604050505020204" pitchFamily="18" charset="0"/>
              </a:rPr>
              <a:t>Catatan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4BF350-8B00-9702-3DC7-C06C6FC23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04" y="1381974"/>
            <a:ext cx="5632851" cy="503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8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3FA9B-71D2-EF88-474C-8DD3B57BC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74A09-6902-5F32-C69C-CDDC09ED1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950" y="180747"/>
            <a:ext cx="1035141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Bookman Old Style" panose="02050604050505020204" pitchFamily="18" charset="0"/>
              </a:rPr>
              <a:t>Modeling Linear Regression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8AEA0-6328-C651-9F86-B0214129B15A}"/>
              </a:ext>
            </a:extLst>
          </p:cNvPr>
          <p:cNvSpPr/>
          <p:nvPr/>
        </p:nvSpPr>
        <p:spPr>
          <a:xfrm>
            <a:off x="4936" y="0"/>
            <a:ext cx="347770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Hubungan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positif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yang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jelas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antara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kadar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HbA1c dan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kadar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Glukosa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dalam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darah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dengan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modeling linear regression.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Mendapatkan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sebuah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nilia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r2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sebesar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0,401 yang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mengartikan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HbA1c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memiliki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pengaruh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40%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kepada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glukosa</a:t>
            </a:r>
            <a:endParaRPr lang="en-US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E81DD59-4C05-6333-DDD4-67F6373139CC}"/>
              </a:ext>
            </a:extLst>
          </p:cNvPr>
          <p:cNvSpPr txBox="1">
            <a:spLocks/>
          </p:cNvSpPr>
          <p:nvPr/>
        </p:nvSpPr>
        <p:spPr>
          <a:xfrm>
            <a:off x="55775" y="1316393"/>
            <a:ext cx="3238670" cy="53608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A6C42E0-DB69-35E9-90AC-386EFD828F51}"/>
              </a:ext>
            </a:extLst>
          </p:cNvPr>
          <p:cNvSpPr txBox="1">
            <a:spLocks/>
          </p:cNvSpPr>
          <p:nvPr/>
        </p:nvSpPr>
        <p:spPr>
          <a:xfrm>
            <a:off x="-460513" y="180747"/>
            <a:ext cx="24313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 err="1">
                <a:latin typeface="Bookman Old Style" panose="02050604050505020204" pitchFamily="18" charset="0"/>
              </a:rPr>
              <a:t>Catatan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B1572-92C8-8DBF-E11E-4C67BE4E1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918" y="2001733"/>
            <a:ext cx="5256407" cy="371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06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BB3FCA2-DC6A-467F-AEEB-1F2664A6089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BB3FCA2-DC6A-467F-AEEB-1F2664A608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035C0714-9E2A-4C6C-BE43-40B1C25F331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7200" b="1" dirty="0"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1BE918-AD44-466B-A434-A4F4052CD23F}"/>
              </a:ext>
            </a:extLst>
          </p:cNvPr>
          <p:cNvSpPr/>
          <p:nvPr/>
        </p:nvSpPr>
        <p:spPr>
          <a:xfrm>
            <a:off x="1" y="0"/>
            <a:ext cx="392155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C39B7E-ACCA-4F82-BA4F-3946ADE1BF50}"/>
              </a:ext>
            </a:extLst>
          </p:cNvPr>
          <p:cNvCxnSpPr>
            <a:cxnSpLocks/>
          </p:cNvCxnSpPr>
          <p:nvPr/>
        </p:nvCxnSpPr>
        <p:spPr>
          <a:xfrm>
            <a:off x="6488730" y="5527287"/>
            <a:ext cx="52025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3">
            <a:extLst>
              <a:ext uri="{FF2B5EF4-FFF2-40B4-BE49-F238E27FC236}">
                <a16:creationId xmlns:a16="http://schemas.microsoft.com/office/drawing/2014/main" id="{3F34B438-DC27-4E5F-81C1-25249C708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95" y="2016759"/>
            <a:ext cx="3286866" cy="2766982"/>
          </a:xfrm>
        </p:spPr>
        <p:txBody>
          <a:bodyPr>
            <a:normAutofit fontScale="90000"/>
          </a:bodyPr>
          <a:lstStyle/>
          <a:p>
            <a:pPr algn="l"/>
            <a:r>
              <a:rPr lang="en-US" sz="7200" dirty="0" err="1">
                <a:latin typeface="Bookman Old Style" panose="02050604050505020204" pitchFamily="18" charset="0"/>
              </a:rPr>
              <a:t>Terima</a:t>
            </a:r>
            <a:r>
              <a:rPr lang="en-US" sz="7200" dirty="0">
                <a:latin typeface="Bookman Old Style" panose="02050604050505020204" pitchFamily="18" charset="0"/>
              </a:rPr>
              <a:t> </a:t>
            </a:r>
            <a:r>
              <a:rPr lang="en-US" sz="7200" dirty="0" err="1">
                <a:latin typeface="Bookman Old Style" panose="02050604050505020204" pitchFamily="18" charset="0"/>
              </a:rPr>
              <a:t>kasih</a:t>
            </a:r>
            <a:endParaRPr lang="en-US" sz="7200" dirty="0"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CF8CD-18CE-28AD-2937-BD00AF813A0E}"/>
              </a:ext>
            </a:extLst>
          </p:cNvPr>
          <p:cNvSpPr txBox="1"/>
          <p:nvPr/>
        </p:nvSpPr>
        <p:spPr>
          <a:xfrm>
            <a:off x="4810027" y="2274838"/>
            <a:ext cx="60944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br>
              <a:rPr lang="fr-FR" sz="1800" b="0" i="0" u="none" strike="noStrike" dirty="0">
                <a:solidFill>
                  <a:srgbClr val="2B2B2D"/>
                </a:solidFill>
                <a:effectLst/>
                <a:latin typeface="Bookman Old Style" panose="02050604050505020204" pitchFamily="18" charset="0"/>
              </a:rPr>
            </a:br>
            <a:br>
              <a:rPr lang="fr-FR" sz="1800" b="0" i="0" u="none" strike="noStrike" dirty="0">
                <a:solidFill>
                  <a:srgbClr val="2B2B2D"/>
                </a:solidFill>
                <a:effectLst/>
                <a:latin typeface="Bookman Old Style" panose="02050604050505020204" pitchFamily="18" charset="0"/>
              </a:rPr>
            </a:br>
            <a:r>
              <a:rPr lang="fr-FR" sz="1800" b="0" i="0" u="none" strike="noStrike" dirty="0">
                <a:solidFill>
                  <a:srgbClr val="2B2B2D"/>
                </a:solidFill>
                <a:effectLst/>
                <a:latin typeface="Bookman Old Style" panose="02050604050505020204" pitchFamily="18" charset="0"/>
              </a:rPr>
              <a:t>Email : </a:t>
            </a:r>
            <a:r>
              <a:rPr lang="fr-FR" sz="1800" b="0" i="0" u="sng" strike="noStrike" dirty="0">
                <a:solidFill>
                  <a:srgbClr val="FFFFFF"/>
                </a:solidFill>
                <a:effectLst/>
                <a:latin typeface="Bookman Old Style" panose="02050604050505020204" pitchFamily="18" charset="0"/>
                <a:hlinkClick r:id="rId6"/>
              </a:rPr>
              <a:t>prasetyosaputro327@gmail.com</a:t>
            </a:r>
            <a:br>
              <a:rPr lang="fr-FR" sz="1800" b="0" i="0" u="none" strike="noStrike" dirty="0">
                <a:solidFill>
                  <a:srgbClr val="2B2B2D"/>
                </a:solidFill>
                <a:effectLst/>
                <a:latin typeface="Bookman Old Style" panose="02050604050505020204" pitchFamily="18" charset="0"/>
                <a:hlinkClick r:id="rId6"/>
              </a:rPr>
            </a:br>
            <a:br>
              <a:rPr lang="fr-FR" sz="1800" b="0" i="0" u="none" strike="noStrike" dirty="0">
                <a:solidFill>
                  <a:srgbClr val="2B2B2D"/>
                </a:solidFill>
                <a:effectLst/>
                <a:latin typeface="Bookman Old Style" panose="02050604050505020204" pitchFamily="18" charset="0"/>
                <a:hlinkClick r:id="rId6"/>
              </a:rPr>
            </a:br>
            <a:r>
              <a:rPr lang="fr-FR" sz="1800" b="0" i="0" u="none" strike="noStrike" dirty="0" err="1">
                <a:solidFill>
                  <a:srgbClr val="2B2B2D"/>
                </a:solidFill>
                <a:effectLst/>
                <a:latin typeface="Bookman Old Style" panose="02050604050505020204" pitchFamily="18" charset="0"/>
              </a:rPr>
              <a:t>whatsapp</a:t>
            </a:r>
            <a:r>
              <a:rPr lang="fr-FR" sz="1800" b="0" i="0" u="none" strike="noStrike" dirty="0">
                <a:solidFill>
                  <a:srgbClr val="2B2B2D"/>
                </a:solidFill>
                <a:effectLst/>
                <a:latin typeface="Bookman Old Style" panose="02050604050505020204" pitchFamily="18" charset="0"/>
              </a:rPr>
              <a:t>: wa.me/628891265472</a:t>
            </a:r>
            <a:endParaRPr lang="fr-FR" dirty="0">
              <a:solidFill>
                <a:srgbClr val="2B2B2D"/>
              </a:solidFill>
              <a:latin typeface="Bookman Old Style" panose="02050604050505020204" pitchFamily="18" charset="0"/>
            </a:endParaRPr>
          </a:p>
          <a:p>
            <a:pPr rtl="0">
              <a:buNone/>
            </a:pPr>
            <a:endParaRPr lang="fr-FR" b="0" dirty="0">
              <a:solidFill>
                <a:srgbClr val="2B2B2D"/>
              </a:solidFill>
              <a:effectLst/>
              <a:latin typeface="Bookman Old Style" panose="02050604050505020204" pitchFamily="18" charset="0"/>
            </a:endParaRPr>
          </a:p>
          <a:p>
            <a:pPr fontAlgn="base"/>
            <a:r>
              <a:rPr lang="fr-FR" dirty="0" err="1">
                <a:solidFill>
                  <a:srgbClr val="2B2B2D"/>
                </a:solidFill>
                <a:latin typeface="Bookman Old Style" panose="02050604050505020204" pitchFamily="18" charset="0"/>
              </a:rPr>
              <a:t>Linkedin</a:t>
            </a:r>
            <a:r>
              <a:rPr lang="fr-FR" dirty="0">
                <a:solidFill>
                  <a:srgbClr val="2B2B2D"/>
                </a:solidFill>
                <a:latin typeface="Bookman Old Style" panose="02050604050505020204" pitchFamily="18" charset="0"/>
              </a:rPr>
              <a:t> : </a:t>
            </a:r>
            <a:r>
              <a:rPr lang="en-US" dirty="0">
                <a:hlinkClick r:id="rId7"/>
              </a:rPr>
              <a:t>www.linkedin.com/in/prasetyo-saputro-749446384</a:t>
            </a:r>
            <a:endParaRPr lang="en-US" dirty="0"/>
          </a:p>
          <a:p>
            <a:br>
              <a:rPr lang="en-US" dirty="0"/>
            </a:b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60968D-8B6C-C34A-5EC7-DC59F4F6CACD}"/>
              </a:ext>
            </a:extLst>
          </p:cNvPr>
          <p:cNvSpPr txBox="1">
            <a:spLocks/>
          </p:cNvSpPr>
          <p:nvPr/>
        </p:nvSpPr>
        <p:spPr>
          <a:xfrm>
            <a:off x="2384195" y="1416993"/>
            <a:ext cx="1035141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Bookman Old Style" panose="02050604050505020204" pitchFamily="18" charset="0"/>
              </a:rPr>
              <a:t>Kontak</a:t>
            </a:r>
          </a:p>
        </p:txBody>
      </p:sp>
    </p:spTree>
    <p:extLst>
      <p:ext uri="{BB962C8B-B14F-4D97-AF65-F5344CB8AC3E}">
        <p14:creationId xmlns:p14="http://schemas.microsoft.com/office/powerpoint/2010/main" val="34857128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2u0EdlExgMuoGXE.Tym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428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Bookman Old Style</vt:lpstr>
      <vt:lpstr>Calibri</vt:lpstr>
      <vt:lpstr>Calibri Light</vt:lpstr>
      <vt:lpstr>Georgia</vt:lpstr>
      <vt:lpstr>Office Theme</vt:lpstr>
      <vt:lpstr>think-cell Slide</vt:lpstr>
      <vt:lpstr>Exploratory Data Analyst (EDA) + Linear Regression Faktor resiko kesehatan</vt:lpstr>
      <vt:lpstr>PENDAHULUAN  </vt:lpstr>
      <vt:lpstr>Dataset</vt:lpstr>
      <vt:lpstr>Distribusi Umur(Univariate Analyst)</vt:lpstr>
      <vt:lpstr>Korelasi</vt:lpstr>
      <vt:lpstr>Multivariate Analyst</vt:lpstr>
      <vt:lpstr>Distribusi Indikator Kesehatan</vt:lpstr>
      <vt:lpstr>Modeling Linear Regression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prasetyo saputro</dc:creator>
  <cp:lastModifiedBy>prasetyo saputro</cp:lastModifiedBy>
  <cp:revision>4</cp:revision>
  <dcterms:created xsi:type="dcterms:W3CDTF">2025-10-31T08:38:22Z</dcterms:created>
  <dcterms:modified xsi:type="dcterms:W3CDTF">2025-10-31T09:29:00Z</dcterms:modified>
</cp:coreProperties>
</file>